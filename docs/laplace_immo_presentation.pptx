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4008" cy="685800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Laplace Immo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6A2D"/>
                </a:solidFill>
              </a:rPr>
              <a:t>Prédiction des Prix Immobiliers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34640"/>
            <a:ext cx="4114800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9DA"/>
                </a:solidFill>
              </a:rPr>
              <a:t>Dataset Ames Housing · Iowa, USA
1 460 maisons · 81 variables · LightGBM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Lykarim  &amp;  Tallalimatou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40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9DA"/>
                </a:solidFill>
              </a:rPr>
              <a:t>Promotion DIC3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9DA"/>
                </a:solidFill>
              </a:rPr>
              <a:t>Technologies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355080"/>
            <a:ext cx="777240" cy="32004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07592" y="6355080"/>
            <a:ext cx="777240" cy="32004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7592" y="63550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7984" y="6355080"/>
            <a:ext cx="777240" cy="32004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57984" y="63550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08376" y="6355080"/>
            <a:ext cx="777240" cy="32004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8376" y="63550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MLFlow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58768" y="6355080"/>
            <a:ext cx="777240" cy="32004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8768" y="63550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DVC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6355080"/>
            <a:ext cx="777240" cy="32004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63550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Optuna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914400"/>
            <a:ext cx="2560320" cy="14630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914400"/>
            <a:ext cx="2560320" cy="50292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005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6A2D"/>
                </a:solidFill>
              </a:rPr>
              <a:t>26 338 $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62763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RMSE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9385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677"/>
                </a:solidFill>
              </a:rPr>
              <a:t>erreur de prédiction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914400"/>
            <a:ext cx="2560320" cy="14630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914400"/>
            <a:ext cx="2560320" cy="50292"/>
          </a:xfrm>
          <a:prstGeom prst="rect">
            <a:avLst/>
          </a:prstGeom>
          <a:solidFill>
            <a:srgbClr val="14A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1005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4AA60"/>
                </a:solidFill>
              </a:rPr>
              <a:t>0.891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162763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R²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19385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677"/>
                </a:solidFill>
              </a:rPr>
              <a:t>variance expliquée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651760"/>
            <a:ext cx="2560320" cy="14630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2651760"/>
            <a:ext cx="2560320" cy="50292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743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D5FB3"/>
                </a:solidFill>
              </a:rPr>
              <a:t>17 058 $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3649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MAE 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6758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677"/>
                </a:solidFill>
              </a:rPr>
              <a:t>écart absolu moyen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2651760"/>
            <a:ext cx="2560320" cy="14630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35440" y="2651760"/>
            <a:ext cx="2560320" cy="50292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2743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6A2FBE"/>
                </a:solidFill>
              </a:rPr>
              <a:t>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33649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Tests auto.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6758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677"/>
                </a:solidFill>
              </a:rPr>
              <a:t>unitaires + intégration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389120"/>
            <a:ext cx="2560320" cy="14630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4389120"/>
            <a:ext cx="2560320" cy="5029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480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7A7A"/>
                </a:solidFill>
              </a:rPr>
              <a:t>528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10235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Runs MLFlow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413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677"/>
                </a:solidFill>
              </a:rPr>
              <a:t>4 expériences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4389120"/>
            <a:ext cx="2560320" cy="14630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35440" y="4389120"/>
            <a:ext cx="2560320" cy="50292"/>
          </a:xfrm>
          <a:prstGeom prst="rect">
            <a:avLst/>
          </a:prstGeom>
          <a:solidFill>
            <a:srgbClr val="C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35440" y="4480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01E3A"/>
                </a:solidFill>
              </a:rPr>
              <a:t>3 jobs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510235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CI/CD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5413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677"/>
                </a:solidFill>
              </a:rPr>
              <a:t>GitHub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669280" cy="117043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64008" cy="117043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669280" cy="6400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2344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2B5E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527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Contexte &amp;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91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Problématique, Ames Housing, variables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5669280" cy="117043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43000"/>
            <a:ext cx="64008" cy="1170432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143000"/>
            <a:ext cx="5669280" cy="64008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2344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5FB3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2527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Analyse Exploratoire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691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EDA, valeurs manquantes, corrélations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41448"/>
            <a:ext cx="5669280" cy="117043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441448"/>
            <a:ext cx="64008" cy="1170432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441448"/>
            <a:ext cx="5669280" cy="64008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253288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7A48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55117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Benchmark des modèles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99008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20+ algorithmes, 54 runs MLFlow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441448"/>
            <a:ext cx="5669280" cy="117043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441448"/>
            <a:ext cx="64008" cy="1170432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441448"/>
            <a:ext cx="5669280" cy="64008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253288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6A2D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55117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Optimisation Optuna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99008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Recherche bayésienne, 60 trials/modèle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739896"/>
            <a:ext cx="5669280" cy="117043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739896"/>
            <a:ext cx="64008" cy="1170432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739896"/>
            <a:ext cx="5669280" cy="64008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3831336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A2FBE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384962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Ingénierie prétraitements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28853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6 axes comparés, +1 237 $ de gain RMSE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739896"/>
            <a:ext cx="5669280" cy="117043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739896"/>
            <a:ext cx="64008" cy="117043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739896"/>
            <a:ext cx="5669280" cy="640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3831336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7A7A"/>
                </a:solidFill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84962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Résultats &amp;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28853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Métriques finales, importance variables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038344"/>
            <a:ext cx="5669280" cy="117043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5038344"/>
            <a:ext cx="64008" cy="1170432"/>
          </a:xfrm>
          <a:prstGeom prst="rect">
            <a:avLst/>
          </a:prstGeom>
          <a:solidFill>
            <a:srgbClr val="C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5038344"/>
            <a:ext cx="5669280" cy="64008"/>
          </a:xfrm>
          <a:prstGeom prst="rect">
            <a:avLst/>
          </a:prstGeom>
          <a:solidFill>
            <a:srgbClr val="C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" y="512978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1E3A"/>
                </a:solidFill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51480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API REST &amp; Docker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558698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FastAPI, Pydantic, containerisation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5038344"/>
            <a:ext cx="5669280" cy="117043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9360" y="5038344"/>
            <a:ext cx="64008" cy="117043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5038344"/>
            <a:ext cx="5669280" cy="6400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3952" y="512978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2B5E"/>
                </a:solidFill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51480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MLOps &amp; Monitoring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558698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MLFlow, DVC, drift detection, CI/CD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B4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Contexte &amp;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520440"/>
            <a:ext cx="3657600" cy="64008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Contexte &amp; 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Pourquoi prédire le prix d'une maison est difficile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Le défi de l'estimation immobilière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600200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81 variables hétérogènes : numériques, catégorielles, ordinales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057400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Interactions complexes : grande maison mal entretenue &lt; petite maison rénovée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146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514600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Outliers importants : quelques maisons à 700k $ sur un marché à 180k $ médian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71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971800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Valeurs manquantes significatives (PoolQC, Alley &gt; 80%) avec sens métier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3429000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Les agents s'appuient sur l'intuition → biais humain et inconsistances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1430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Notre solution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600200"/>
            <a:ext cx="2606040" cy="1691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600200"/>
            <a:ext cx="59436" cy="169164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Modèle ML précis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075688"/>
            <a:ext cx="2377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RMSE &lt; 27 000 $
R² &gt; 0.88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600200"/>
            <a:ext cx="2606040" cy="1691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600200"/>
            <a:ext cx="59436" cy="169164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2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Pipeline reproductible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2075688"/>
            <a:ext cx="2377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DVC + MLFlow
traçabilité complète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520440"/>
            <a:ext cx="2606040" cy="1691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520440"/>
            <a:ext cx="59436" cy="169164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3611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API de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3995928"/>
            <a:ext cx="2377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FastAPI + Docker
prête à déployer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3520440"/>
            <a:ext cx="2606040" cy="1691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2560" y="3520440"/>
            <a:ext cx="59436" cy="1691640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17152" y="3611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Tests &amp; CI/CD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7152" y="3995928"/>
            <a:ext cx="2377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20 tests auto.
3 jobs GitHub Actions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669280"/>
            <a:ext cx="11430000" cy="74980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5669280"/>
            <a:ext cx="64008" cy="749808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8064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Projet réalisé en binôme — Lykarim &amp; Tallalimatou — Promotion DIC3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Dataset — Ames Housing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Iowa, USA · chargé automatiquement via OpenML (fetch_openml) · aucun téléchargement manuel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828800" cy="141732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1828800" cy="5029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2B5E"/>
                </a:solidFill>
              </a:rPr>
              <a:t>1 460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105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observations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13432" y="1097280"/>
            <a:ext cx="1828800" cy="141732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13432" y="1097280"/>
            <a:ext cx="1828800" cy="50292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3432" y="1188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6A2D"/>
                </a:solidFill>
              </a:rPr>
              <a:t>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18105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variables brutes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097280"/>
            <a:ext cx="1828800" cy="141732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6824" y="1097280"/>
            <a:ext cx="1828800" cy="50292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1188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47A48"/>
                </a:solidFill>
              </a:rPr>
              <a:t>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4" y="18105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features sélectionnées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216" y="1097280"/>
            <a:ext cx="1828800" cy="141732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0216" y="1097280"/>
            <a:ext cx="1828800" cy="50292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1188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D5FB3"/>
                </a:solidFill>
              </a:rPr>
              <a:t>180 k$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18105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prix médian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93608" y="1097280"/>
            <a:ext cx="1828800" cy="141732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93608" y="1097280"/>
            <a:ext cx="1828800" cy="50292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1188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6A2FBE"/>
                </a:solidFill>
              </a:rPr>
              <a:t>34 k$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18105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écart-type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87000" y="1097280"/>
            <a:ext cx="1828800" cy="141732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87000" y="1097280"/>
            <a:ext cx="1828800" cy="50292"/>
          </a:xfrm>
          <a:prstGeom prst="rect">
            <a:avLst/>
          </a:prstGeom>
          <a:solidFill>
            <a:srgbClr val="C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87000" y="1188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01E3A"/>
                </a:solidFill>
              </a:rPr>
              <a:t>755 k$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18105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prix maximum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27432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Catégories de variables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218688"/>
            <a:ext cx="5669280" cy="5943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218688"/>
            <a:ext cx="59436" cy="59436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" y="3273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Surface &amp; Dimensions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2735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GrLivArea, LotArea, TotalBsmtSF, GarageArea, MasVnrArea…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218688"/>
            <a:ext cx="5669280" cy="5943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3218688"/>
            <a:ext cx="59436" cy="59436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3273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Qualité &amp; Condition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2735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OverallQual (1–10), OverallCond, ExterQual, KitchenQual…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904488"/>
            <a:ext cx="5669280" cy="5943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3904488"/>
            <a:ext cx="59436" cy="594360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" y="39593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Localisation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39593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Neighborhood (25 quartiers), MSZoning, Street…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904488"/>
            <a:ext cx="5669280" cy="5943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3904488"/>
            <a:ext cx="59436" cy="59436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28232" y="39593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Caractéristiques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39593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GarageCars, Fireplaces, FullBath, TotRmsAbvGrd, BedroomAbvGr…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590288"/>
            <a:ext cx="5669280" cy="5943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4590288"/>
            <a:ext cx="59436" cy="594360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" y="46451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Temporelles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46451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YearBuilt, YearRemodAdd, GarageYrBlt, YrSold, MoSold…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4590288"/>
            <a:ext cx="5669280" cy="5943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4590288"/>
            <a:ext cx="59436" cy="59436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28232" y="46451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Type &amp; Style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46451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MSSubClass, BldgType, HouseStyle, Foundation, RoofStyle…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577840"/>
            <a:ext cx="11430000" cy="74980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0040" y="5577840"/>
            <a:ext cx="11430000" cy="59436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68756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</a:rPr>
              <a:t>3 features temporelles créées :   building_age = yrsold − yearbuilt   ·   remodel_age = yrsold − yearremodadd   ·   garage_age = yrsold − garageyrblt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5F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B7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Analyse Exploratoire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520440"/>
            <a:ext cx="3657600" cy="64008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EDA — Valeurs Manquantes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Certaines absences ont un sens métier — ne pas imputer par la moyenne 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Taux de valeurs manquantes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PoolQC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1728216"/>
            <a:ext cx="3200400" cy="2743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83080" y="1728216"/>
            <a:ext cx="3184398" cy="274320"/>
          </a:xfrm>
          <a:prstGeom prst="rect">
            <a:avLst/>
          </a:prstGeom>
          <a:solidFill>
            <a:srgbClr val="C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2342" y="16733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1E3A"/>
                </a:solidFill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6916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Pas de piscine (sens métier)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240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MiscFeature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2276856"/>
            <a:ext cx="3200400" cy="2743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83080" y="2276856"/>
            <a:ext cx="3081985" cy="274320"/>
          </a:xfrm>
          <a:prstGeom prst="rect">
            <a:avLst/>
          </a:prstGeom>
          <a:solidFill>
            <a:srgbClr val="C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929" y="22219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1E3A"/>
                </a:solidFill>
              </a:rPr>
              <a:t>96%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2402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Pas d'équipement divers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7889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Alley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2825496"/>
            <a:ext cx="3200400" cy="2743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83080" y="2825496"/>
            <a:ext cx="2982772" cy="274320"/>
          </a:xfrm>
          <a:prstGeom prst="rect">
            <a:avLst/>
          </a:prstGeom>
          <a:solidFill>
            <a:srgbClr val="C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0716" y="27706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1E3A"/>
                </a:solidFill>
              </a:rPr>
              <a:t>93%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7889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Pas d'accès ruelle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3375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Fence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3374136"/>
            <a:ext cx="3200400" cy="2743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83080" y="3374136"/>
            <a:ext cx="2582722" cy="274320"/>
          </a:xfrm>
          <a:prstGeom prst="rect">
            <a:avLst/>
          </a:prstGeom>
          <a:solidFill>
            <a:srgbClr val="C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0666" y="331927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1E3A"/>
                </a:solidFill>
              </a:rPr>
              <a:t>81%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3375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Pas de clôture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3886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FireplaceQu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3922776"/>
            <a:ext cx="3200400" cy="2743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83080" y="3922776"/>
            <a:ext cx="1513789" cy="2743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51733" y="386791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47%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8862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Pas de cheminée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4348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LotFrontage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83080" y="4471416"/>
            <a:ext cx="3200400" cy="2743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83080" y="4471416"/>
            <a:ext cx="566470" cy="2743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04414" y="44165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18%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4348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Façade sur rue manquante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4983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GarageType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83080" y="5020056"/>
            <a:ext cx="3200400" cy="2743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83080" y="5020056"/>
            <a:ext cx="176022" cy="27432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13966" y="49651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5FB3"/>
                </a:solidFill>
              </a:rPr>
              <a:t>6%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49834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Pas de garage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55321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BsmtQual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83080" y="5568696"/>
            <a:ext cx="3200400" cy="2743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83080" y="5568696"/>
            <a:ext cx="80010" cy="27432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17954" y="55138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5FB3"/>
                </a:solidFill>
              </a:rPr>
              <a:t>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55321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Pas de sous-sol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E"/>
                </a:solidFill>
              </a:rPr>
              <a:t>Imputation sémantique vs standard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0" y="1600200"/>
            <a:ext cx="3200400" cy="2011680"/>
          </a:xfrm>
          <a:prstGeom prst="rect">
            <a:avLst/>
          </a:prstGeom>
          <a:solidFill>
            <a:srgbClr val="FFF0F0"/>
          </a:solidFill>
          <a:ln w="1270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3960" y="170992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❌ Imputation classique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2148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NaN → mode ou médiane
PoolQC NaN → 'TA'
Perd l'information 'absent'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3886200"/>
            <a:ext cx="3200400" cy="2011680"/>
          </a:xfrm>
          <a:prstGeom prst="rect">
            <a:avLst/>
          </a:prstGeom>
          <a:solidFill>
            <a:srgbClr val="F0FFF0"/>
          </a:solidFill>
          <a:ln w="1270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23960" y="399592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✓ Imputation sémantique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4434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NaN → 'NoBsmt', 'NoGarage'
PoolQC NaN → 'NoPool'
Conserve l'info métier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6126480"/>
            <a:ext cx="11430000" cy="3657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0040" y="6126480"/>
            <a:ext cx="59436" cy="36576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617220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Gain de l'imputation sémantique : +129 $ de RMSE en validation croisée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EDA — Distribution de SalePrice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Variable cible : asymétrique à droite → log-transformation nécessaire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Statistiques descriptives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2377440" cy="548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733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Minimum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733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2B5E"/>
                </a:solidFill>
              </a:rPr>
              <a:t>34 900 $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600200"/>
            <a:ext cx="2377440" cy="548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6733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6733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2B5E"/>
                </a:solidFill>
              </a:rPr>
              <a:t>129 975 $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21992"/>
            <a:ext cx="2377440" cy="548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29514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Médiane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2951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2B5E"/>
                </a:solidFill>
              </a:rPr>
              <a:t>163 000 $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2221992"/>
            <a:ext cx="2377440" cy="548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29514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Moyenne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2951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2B5E"/>
                </a:solidFill>
              </a:rPr>
              <a:t>180 921 $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43784"/>
            <a:ext cx="2377440" cy="548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91693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91693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2B5E"/>
                </a:solidFill>
              </a:rPr>
              <a:t>214 000 $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2843784"/>
            <a:ext cx="2377440" cy="548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91693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Maximum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291693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2B5E"/>
                </a:solidFill>
              </a:rPr>
              <a:t>755 000 $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465576"/>
            <a:ext cx="2377440" cy="548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5387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Asymétrie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538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2B5E"/>
                </a:solidFill>
              </a:rPr>
              <a:t>1.88 (forte)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Pourquoi log1p(SalePrice) 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5029200"/>
            <a:ext cx="256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" y="5029200"/>
            <a:ext cx="47914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L'asymétrie à droite viole l'hypothèse de normalité des résidus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449824"/>
            <a:ext cx="256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" y="5449824"/>
            <a:ext cx="47914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Quelques maisons à 700k $ créent un levier excessif sur les modèles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870448"/>
            <a:ext cx="256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" y="5870448"/>
            <a:ext cx="47914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log1p transforme la loi log-normale en loi normale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291072"/>
            <a:ext cx="256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" y="6291072"/>
            <a:ext cx="47914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Améliore massivement SVR (+54 000 $) et XGBoost (+6 700 $)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114300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E"/>
                </a:solidFill>
              </a:rPr>
              <a:t>Distribution SalePrice (avant/après log)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1572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6A2D"/>
                </a:solidFill>
              </a:rPr>
              <a:t>Brut (asymétrique)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3856940"/>
            <a:ext cx="246888" cy="2926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08776" y="3769157"/>
            <a:ext cx="246888" cy="117043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73952" y="3622853"/>
            <a:ext cx="246888" cy="263347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39128" y="3418028"/>
            <a:ext cx="246888" cy="468172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04304" y="3227832"/>
            <a:ext cx="246888" cy="658368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69480" y="3081528"/>
            <a:ext cx="246888" cy="804672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34656" y="2832812"/>
            <a:ext cx="246888" cy="1053388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99832" y="2598725"/>
            <a:ext cx="246888" cy="1287475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65008" y="2423160"/>
            <a:ext cx="246888" cy="146304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30184" y="2686508"/>
            <a:ext cx="246888" cy="1199692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95360" y="3081528"/>
            <a:ext cx="246888" cy="804672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60536" y="3374137"/>
            <a:ext cx="246888" cy="512063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25712" y="3564332"/>
            <a:ext cx="246888" cy="321868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90888" y="3710636"/>
            <a:ext cx="246888" cy="175564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56064" y="3783788"/>
            <a:ext cx="246888" cy="102412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921240" y="3827679"/>
            <a:ext cx="246888" cy="58521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86416" y="3842309"/>
            <a:ext cx="246888" cy="43891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451592" y="3856940"/>
            <a:ext cx="246888" cy="2926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716768" y="3871570"/>
            <a:ext cx="246888" cy="1463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981944" y="3878885"/>
            <a:ext cx="246888" cy="7315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52560" y="1572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47A48"/>
                </a:solidFill>
              </a:rPr>
              <a:t>Après log1p (normale)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52560" y="3813048"/>
            <a:ext cx="246888" cy="73152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317736" y="3710636"/>
            <a:ext cx="246888" cy="175564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82912" y="3520440"/>
            <a:ext cx="246888" cy="365760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848088" y="3183941"/>
            <a:ext cx="246888" cy="702259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113264" y="2832812"/>
            <a:ext cx="246888" cy="1053388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78440" y="2540204"/>
            <a:ext cx="246888" cy="1345996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643616" y="2423160"/>
            <a:ext cx="246888" cy="1463040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908792" y="2496312"/>
            <a:ext cx="246888" cy="1389888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173968" y="2686508"/>
            <a:ext cx="246888" cy="1199692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439144" y="2935224"/>
            <a:ext cx="246888" cy="950976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704320" y="3183941"/>
            <a:ext cx="246888" cy="702259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969496" y="3418028"/>
            <a:ext cx="246888" cy="468172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2234672" y="3564332"/>
            <a:ext cx="246888" cy="321868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2499848" y="3681375"/>
            <a:ext cx="246888" cy="204825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765024" y="3754527"/>
            <a:ext cx="246888" cy="131673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3030200" y="3798418"/>
            <a:ext cx="246888" cy="87782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295376" y="3827679"/>
            <a:ext cx="246888" cy="58521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3560552" y="3856940"/>
            <a:ext cx="246888" cy="29260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3825728" y="3871570"/>
            <a:ext cx="246888" cy="14630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4090904" y="3878885"/>
            <a:ext cx="246888" cy="7315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760720" y="3931920"/>
            <a:ext cx="6126480" cy="457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760720" y="39776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34k$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72400" y="39776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755k$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60720" y="43434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98464" y="4343400"/>
            <a:ext cx="5888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Après transformation : skewness ≈ 0.12 (quasi-normale)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60720" y="48006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98464" y="4800600"/>
            <a:ext cx="5888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np.expm1() appliqué en sortie du modèle pour revenir en $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EDA — Corrélations &amp; 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Pearson mesure les liens linéaires · PPS capture les non-linéaires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Top corrélations avec SalePrice (Pearson)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OverallQual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728216"/>
            <a:ext cx="3200400" cy="2743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1728216"/>
            <a:ext cx="2528316" cy="2743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1980" y="16733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E"/>
                </a:solidFill>
              </a:rPr>
              <a:t>r = 0.79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9164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Qualité générale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24028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GrLivArea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276856"/>
            <a:ext cx="3200400" cy="2743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2276856"/>
            <a:ext cx="2272284" cy="2743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55948" y="22219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E"/>
                </a:solidFill>
              </a:rPr>
              <a:t>r = 0.71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24028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Surface habitable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7889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GarageCars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2825496"/>
            <a:ext cx="3200400" cy="2743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2825496"/>
            <a:ext cx="2048256" cy="2743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27706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E"/>
                </a:solidFill>
              </a:rPr>
              <a:t>r = 0.64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78892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Capacité garage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3375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GarageArea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3374136"/>
            <a:ext cx="3200400" cy="2743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0" y="3374136"/>
            <a:ext cx="1984248" cy="2743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67912" y="33192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E"/>
                </a:solidFill>
              </a:rPr>
              <a:t>r = 0.62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33756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Surface garage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388620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TotalBsmtSF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3922776"/>
            <a:ext cx="3200400" cy="2743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0" y="3922776"/>
            <a:ext cx="1952244" cy="2743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35908" y="38679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E"/>
                </a:solidFill>
              </a:rPr>
              <a:t>r = 0.61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88620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Surface sous-sol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43484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FullBath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471416"/>
            <a:ext cx="3200400" cy="2743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28800" y="4471416"/>
            <a:ext cx="1792224" cy="2743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75888" y="44165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E"/>
                </a:solidFill>
              </a:rPr>
              <a:t>r = 0.56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3484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Salles de bain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498348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YearBuilt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0" y="5020056"/>
            <a:ext cx="3200400" cy="2743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0" y="5020056"/>
            <a:ext cx="1664208" cy="2743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47872" y="49651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E"/>
                </a:solidFill>
              </a:rPr>
              <a:t>r = 0.52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498348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Année construction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55321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YearRemodAdd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5568696"/>
            <a:ext cx="3200400" cy="2743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828800" y="5568696"/>
            <a:ext cx="1632204" cy="2743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15868" y="55138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E"/>
                </a:solidFill>
              </a:rPr>
              <a:t>r = 0.51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53212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Année rénovation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11430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PPS vs Corrélation de Pearson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1600200"/>
            <a:ext cx="2651760" cy="301752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1600200"/>
            <a:ext cx="2651760" cy="5943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3952" y="170992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Corrélation Pearson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3952" y="21762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1E3A"/>
                </a:solidFill>
              </a:rPr>
              <a:t>✗ Mesure uniquement les relations LINÉAIRES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3952" y="26334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1E3A"/>
                </a:solidFill>
              </a:rPr>
              <a:t>✗ Symétrique : corr(X,Y) = corr(Y,X)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3952" y="30906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1E3A"/>
                </a:solidFill>
              </a:rPr>
              <a:t>✗ Ne détecte pas : paraboles, interactions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3952" y="35478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1E3A"/>
                </a:solidFill>
              </a:rPr>
              <a:t>✗ Sensible aux outliers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89720" y="1600200"/>
            <a:ext cx="2651760" cy="301752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89720" y="1600200"/>
            <a:ext cx="2651760" cy="59436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54312" y="170992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PPS — Predictive Power Score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54312" y="21762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7A48"/>
                </a:solidFill>
              </a:rPr>
              <a:t>✓ Capture toutes les relations (non-linéaires aussi)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54312" y="26334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7A48"/>
                </a:solidFill>
              </a:rPr>
              <a:t>✓ Asymétrique : PPS(X→Y) ≠ PPS(Y→X)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54312" y="30906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7A48"/>
                </a:solidFill>
              </a:rPr>
              <a:t>✓ Basé sur un arbre de décision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54312" y="35478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7A48"/>
                </a:solidFill>
              </a:rPr>
              <a:t>✓ 26 features sélectionnées (score ≥ 0.05)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800600"/>
            <a:ext cx="5577840" cy="9144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09360" y="4800600"/>
            <a:ext cx="59436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73952" y="489204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Résultat PPS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3952" y="527608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Sur 81 variables, 26 ont un PPS ≥ 0.05 → retenues pour la modélisation.
OverallQual : PPS = 0.71 · GrLivArea : PPS = 0.58 · Neighborhood : PPS = 0.49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7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29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Benchmark des Modèles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520440"/>
            <a:ext cx="3657600" cy="64008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Benchmark — Méthodologie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54 runs MLFlow · 20+ algorithmes · 2 espaces cibles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Protocole expérimental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600200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Split 80/20 stratifié sur SalePrice (seed=43, reproductible)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574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057400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Chaque modèle testé 2 fois : cible brute et cible log1p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146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514600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Scaler : RobustScaler (résistant aux outliers immobiliers)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971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2971800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Métrique principale : RMSE sur le jeu de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4290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" y="3429000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Tous les runs loggués automatiquement dans MLFlow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143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Familles d'algorithmes testées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600200"/>
            <a:ext cx="5943600" cy="58521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600200"/>
            <a:ext cx="59436" cy="585216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6916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Linéaires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169164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Ridge, Lasso, ElasticNet, BayesianRidge, HuberRegressor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258568"/>
            <a:ext cx="5943600" cy="58521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2258568"/>
            <a:ext cx="59436" cy="585216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35000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Arbres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350008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DecisionTree, ExtraTrees, RandomForest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916936"/>
            <a:ext cx="5943600" cy="58521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2916936"/>
            <a:ext cx="59436" cy="585216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0083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Gradient Boosting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008376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GradBoost, HistGradBoost, AdaBoost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575304"/>
            <a:ext cx="5943600" cy="58521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3575304"/>
            <a:ext cx="59436" cy="585216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366674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Boosting avancé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666744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XGBoost, LightGBM, CatBoost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233672"/>
            <a:ext cx="5943600" cy="58521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4233672"/>
            <a:ext cx="59436" cy="585216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43251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Noyaux &amp; KNN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325112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SVR (kernel RBF), KNN (k=5, k=10)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4892040"/>
            <a:ext cx="5943600" cy="58521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4892040"/>
            <a:ext cx="59436" cy="585216"/>
          </a:xfrm>
          <a:prstGeom prst="rect">
            <a:avLst/>
          </a:prstGeom>
          <a:solidFill>
            <a:srgbClr val="C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49834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Réseaux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498348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MLP (1 couche cachée, 100 neurones)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5550408"/>
            <a:ext cx="5943600" cy="58521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0" y="5550408"/>
            <a:ext cx="59436" cy="58521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564184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Ensembles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5641848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VotingRegressor (top 3), StackingRegressor (Ridge méta)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623560"/>
            <a:ext cx="5303520" cy="73152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5623560"/>
            <a:ext cx="59436" cy="731520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7607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Découverte clé : log1p(SalePrice) améliore SVR de 54 000 $ et XGBoost de 6 700 $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Benchmark — Résultats Complets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Classement final (RMSE test) · log1p(SalePrice) sauf mention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41148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1704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115568"/>
            <a:ext cx="256032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1704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115568"/>
            <a:ext cx="128016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3864" y="11704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115568"/>
            <a:ext cx="128016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5464" y="11704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115568"/>
            <a:ext cx="82296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11704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1115568"/>
            <a:ext cx="91440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1464" y="11704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115568"/>
            <a:ext cx="3749039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1170432"/>
            <a:ext cx="36575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Remarque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572768"/>
            <a:ext cx="411480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" y="1645920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🥇1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1572768"/>
            <a:ext cx="2560320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164592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SVR RBF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1572768"/>
            <a:ext cx="1280160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83864" y="16459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28 600 $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1572768"/>
            <a:ext cx="1280160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5464" y="16459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19 200 $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1572768"/>
            <a:ext cx="822960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7064" y="164592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0.857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1572768"/>
            <a:ext cx="914400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41464" y="164592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log1p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440" y="1572768"/>
            <a:ext cx="3749039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47304" y="1645920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Meilleur brut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048256"/>
            <a:ext cx="411480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" y="2121408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🥈2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2048256"/>
            <a:ext cx="2560320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" y="212140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LightGBM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2048256"/>
            <a:ext cx="1280160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83864" y="212140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28 624 $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00600" y="2048256"/>
            <a:ext cx="1280160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55464" y="212140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18 800 $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2048256"/>
            <a:ext cx="822960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27064" y="2121408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0.871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86600" y="2048256"/>
            <a:ext cx="914400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41464" y="212140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log1p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92440" y="2048256"/>
            <a:ext cx="3749039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47304" y="2121408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Meilleur boosting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2523744"/>
            <a:ext cx="41148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4" y="2596896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🥉3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" y="2523744"/>
            <a:ext cx="256032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" y="259689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CatBoost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29000" y="2523744"/>
            <a:ext cx="12801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83864" y="259689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28 900 $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00600" y="2523744"/>
            <a:ext cx="12801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55464" y="259689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19 100 $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2523744"/>
            <a:ext cx="8229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27064" y="259689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0.868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86600" y="2523744"/>
            <a:ext cx="91440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41464" y="259689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log1p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92440" y="2523744"/>
            <a:ext cx="3749039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47304" y="2596896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2999232"/>
            <a:ext cx="411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4904" y="3072384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" y="2999232"/>
            <a:ext cx="25603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" y="3072384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XGBoost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29000" y="2999232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83864" y="307238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29 100 $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00600" y="2999232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55464" y="307238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19 400 $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2999232"/>
            <a:ext cx="8229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27064" y="307238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0.862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86600" y="2999232"/>
            <a:ext cx="914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41464" y="307238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log1p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2440" y="2999232"/>
            <a:ext cx="3749039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47304" y="3072384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3474720"/>
            <a:ext cx="41148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74904" y="3547872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7240" y="3474720"/>
            <a:ext cx="256032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2104" y="354787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HistGradBoost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29000" y="3474720"/>
            <a:ext cx="12801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83864" y="354787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30 200 $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800600" y="3474720"/>
            <a:ext cx="12801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855464" y="354787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20 100 $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72200" y="3474720"/>
            <a:ext cx="8229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27064" y="354787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0.851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86600" y="3474720"/>
            <a:ext cx="91440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41464" y="35478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log1p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92440" y="3474720"/>
            <a:ext cx="3749039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147304" y="3547872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3950208"/>
            <a:ext cx="411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4904" y="4023360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7240" y="3950208"/>
            <a:ext cx="25603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32104" y="402336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StackingRegressor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429000" y="3950208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483864" y="402336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30 800 $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800600" y="3950208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855464" y="402336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20 500 $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72200" y="3950208"/>
            <a:ext cx="8229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27064" y="402336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0.844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086600" y="3950208"/>
            <a:ext cx="914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141464" y="402336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log1p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092440" y="3950208"/>
            <a:ext cx="3749039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147304" y="4023360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Ridge méta-modèle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20040" y="4425696"/>
            <a:ext cx="41148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74904" y="4498848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77240" y="4425696"/>
            <a:ext cx="256032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32104" y="44988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VotingRegressor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429000" y="4425696"/>
            <a:ext cx="12801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483864" y="449884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31 200 $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800600" y="4425696"/>
            <a:ext cx="12801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855464" y="449884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20 800 $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72200" y="4425696"/>
            <a:ext cx="8229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27064" y="4498848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0.839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086600" y="4425696"/>
            <a:ext cx="91440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141464" y="449884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log1p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092440" y="4425696"/>
            <a:ext cx="3749039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147304" y="4498848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18" name="Rectangle 117"/>
          <p:cNvSpPr/>
          <p:nvPr/>
        </p:nvSpPr>
        <p:spPr>
          <a:xfrm>
            <a:off x="320040" y="4901184"/>
            <a:ext cx="411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74904" y="4974336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77240" y="4901184"/>
            <a:ext cx="25603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32104" y="497433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RandomForest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29000" y="4901184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483864" y="497433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32 000 $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800600" y="4901184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855464" y="497433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21 200 $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72200" y="4901184"/>
            <a:ext cx="8229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227064" y="497433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0.831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086600" y="4901184"/>
            <a:ext cx="914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141464" y="497433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log1p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092440" y="4901184"/>
            <a:ext cx="3749039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147304" y="4974336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32" name="Rectangle 131"/>
          <p:cNvSpPr/>
          <p:nvPr/>
        </p:nvSpPr>
        <p:spPr>
          <a:xfrm>
            <a:off x="320040" y="5376672"/>
            <a:ext cx="41148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74904" y="5449824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77240" y="5376672"/>
            <a:ext cx="256032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32104" y="5449824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Ridge (baseline ML)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429000" y="5376672"/>
            <a:ext cx="12801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483864" y="544982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33 500 $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800600" y="5376672"/>
            <a:ext cx="12801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855464" y="544982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22 100 $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172200" y="5376672"/>
            <a:ext cx="8229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227064" y="544982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0.815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086600" y="5376672"/>
            <a:ext cx="91440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141464" y="544982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brut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092440" y="5376672"/>
            <a:ext cx="3749039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147304" y="5449824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46" name="Rectangle 145"/>
          <p:cNvSpPr/>
          <p:nvPr/>
        </p:nvSpPr>
        <p:spPr>
          <a:xfrm>
            <a:off x="320040" y="5852160"/>
            <a:ext cx="411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74904" y="5925312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77240" y="5852160"/>
            <a:ext cx="25603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32104" y="592531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DummyRegressor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429000" y="5852160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483864" y="592531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79 000 $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800600" y="5852160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855464" y="592531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55 000 $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172200" y="5852160"/>
            <a:ext cx="8229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227064" y="592531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086600" y="5852160"/>
            <a:ext cx="914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141464" y="592531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brut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092440" y="5852160"/>
            <a:ext cx="3749039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147304" y="5925312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Référence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Découverte Clé — Impact de log1p(SalePrice)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La transformation logarithmique change radicalement les résultats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Mécanisme de la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600200"/>
            <a:ext cx="5157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SalePrice suit une loi log-normale : asymétrie = 1.88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574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057400"/>
            <a:ext cx="5157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log1p(SalePrice) → asymétrie ≈ 0.12 (quasi-normale)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146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514600"/>
            <a:ext cx="5157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Les résidus deviennent homoscédastiques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971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2971800"/>
            <a:ext cx="5157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SVR et modèles linéaires supposent des résidus normaux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4290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" y="3429000"/>
            <a:ext cx="5157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np.expm1() appliqué en post-traitement pour revenir en 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1430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Impact sur le RMSE par modèle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572768"/>
            <a:ext cx="219456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9904" y="16276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572768"/>
            <a:ext cx="128016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16276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Brut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1572768"/>
            <a:ext cx="128016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47504" y="16276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log1p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064240" y="1572768"/>
            <a:ext cx="100584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19104" y="16276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Gain 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029968"/>
            <a:ext cx="2194560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210312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SVR RBF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2029968"/>
            <a:ext cx="1280160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4" y="21031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83 200 $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2029968"/>
            <a:ext cx="1280160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47504" y="21031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28 600 $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064240" y="2029968"/>
            <a:ext cx="1005840" cy="457200"/>
          </a:xfrm>
          <a:prstGeom prst="rect">
            <a:avLst/>
          </a:prstGeom>
          <a:solidFill>
            <a:srgbClr val="FFF4EC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19104" y="210312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−54 600 $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523744"/>
            <a:ext cx="21945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9904" y="259689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XGBoost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2523744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75904" y="259689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34 700 $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2523744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47504" y="259689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28 000 $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064240" y="2523744"/>
            <a:ext cx="10058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19104" y="259689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−6 700 $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3017520"/>
            <a:ext cx="21945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9904" y="309067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ElasticNet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3017520"/>
            <a:ext cx="12801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75904" y="309067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36 500 $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92640" y="3017520"/>
            <a:ext cx="12801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47504" y="309067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31 200 $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064240" y="3017520"/>
            <a:ext cx="100584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19104" y="309067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−5 300 $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3511296"/>
            <a:ext cx="21945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89904" y="3584448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LightGBM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040" y="3511296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75904" y="358444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29 800 $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92640" y="3511296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47504" y="358444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28 624 $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064240" y="3511296"/>
            <a:ext cx="10058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119104" y="358444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−1 176 $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4005072"/>
            <a:ext cx="21945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89904" y="407822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CatBoost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1040" y="4005072"/>
            <a:ext cx="12801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75904" y="407822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30 100 $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92640" y="4005072"/>
            <a:ext cx="128016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47504" y="407822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28 900 $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064240" y="4005072"/>
            <a:ext cx="1005840" cy="457200"/>
          </a:xfrm>
          <a:prstGeom prst="rect">
            <a:avLst/>
          </a:prstGeom>
          <a:solidFill>
            <a:srgbClr val="F3F6FA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119104" y="407822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−1 200 $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35040" y="4498848"/>
            <a:ext cx="21945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457200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RandomForest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21040" y="4498848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75904" y="457200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33 500 $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92640" y="4498848"/>
            <a:ext cx="12801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47504" y="457200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32 000 $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064240" y="4498848"/>
            <a:ext cx="10058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119104" y="457200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−1 500 $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5303520"/>
            <a:ext cx="5394960" cy="118872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20040" y="5303520"/>
            <a:ext cx="59436" cy="118872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84632" y="5779008"/>
            <a:ext cx="5166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RobustScaler &gt; StandardScaler sur ce dataset : utilise la médiane et l'IQR
au lieu de la moyenne — résistant aux outliers (maisons à 700k$).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6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8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Optimisation Optuna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520440"/>
            <a:ext cx="3657600" cy="64008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Optuna — Optimisation Bayésienne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60 trials par modèle · pruning · 5 modèles optimisés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GridSearch vs Optuna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5669280" cy="3200400"/>
          </a:xfrm>
          <a:prstGeom prst="rect">
            <a:avLst/>
          </a:prstGeom>
          <a:solidFill>
            <a:srgbClr val="FFF0F0"/>
          </a:solidFill>
          <a:ln w="1270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59436" cy="5669280"/>
          </a:xfrm>
          <a:prstGeom prst="rect">
            <a:avLst/>
          </a:prstGeom>
          <a:solidFill>
            <a:srgbClr val="C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7373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1E3A"/>
                </a:solidFill>
              </a:rPr>
              <a:t>GridSearch exhaustive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317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1E3A"/>
                </a:solidFill>
              </a:rPr>
              <a:t>  ✗  Teste TOUTES les combinaisons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89864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1E3A"/>
                </a:solidFill>
              </a:rPr>
              <a:t>  ✗  10 valeurs × 10 valeurs = 100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46557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1E3A"/>
                </a:solidFill>
              </a:rPr>
              <a:t>  ✗  Coûteux et aveugle aux résultats passés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403250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1E3A"/>
                </a:solidFill>
              </a:rPr>
              <a:t>  ✗  Ne s'adapte pas pendant la recherche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600200"/>
            <a:ext cx="5669280" cy="3200400"/>
          </a:xfrm>
          <a:prstGeom prst="rect">
            <a:avLst/>
          </a:prstGeom>
          <a:solidFill>
            <a:srgbClr val="F0FFF5"/>
          </a:solidFill>
          <a:ln w="12700">
            <a:solidFill>
              <a:srgbClr val="BB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600200"/>
            <a:ext cx="59436" cy="5669280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7373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7A48"/>
                </a:solidFill>
              </a:rPr>
              <a:t>Optuna — Bayes + Pruning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3317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7A48"/>
                </a:solidFill>
              </a:rPr>
              <a:t>  ✓  Apprend des essais précédents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89864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7A48"/>
                </a:solidFill>
              </a:rPr>
              <a:t>  ✓  Dirige la recherche vers les zones prometteuses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46557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7A48"/>
                </a:solidFill>
              </a:rPr>
              <a:t>  ✓  Pruning : arrête les essais non prometteurs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03250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7A48"/>
                </a:solidFill>
              </a:rPr>
              <a:t>  ✓  Converge en 10× moins de temps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029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677"/>
                </a:solidFill>
              </a:rPr>
              <a:t>Pruning TPE (Tree-structured Parzen Estimator) : si un trial est mauvais dès les premières itérations → arrêt immédiat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532120"/>
            <a:ext cx="11430000" cy="80467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5532120"/>
            <a:ext cx="59436" cy="804672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6509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5 modèles optimisés : LightGBM · XGBoost · CatBoost · SVR · HistGradientBoosting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6188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77"/>
                </a:solidFill>
              </a:rPr>
              <a:t>60 trials par modèle + pruning Median · Nested runs MLFlow (trial = run enfant)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Optuna — Espace de Recherche LightGBM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9 hyperparamètres · plages log-scale pour certains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Hyperparamètres optimisés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201168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16276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Paramètre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572768"/>
            <a:ext cx="128016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8024" y="16276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Plage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1572768"/>
            <a:ext cx="320040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9624" y="16276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1572768"/>
            <a:ext cx="475488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41464" y="16276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Rôle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29968"/>
            <a:ext cx="11521440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10312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n_estimators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10312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200 – 1 200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10312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Nombre d'arbres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1031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plus élevé = meilleur mais plus lent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23744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596896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learning_rate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259689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0.005 – 0.3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2596896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Taux d'apprentissage (log-scale)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59689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faible + n_estimators élevé = optimal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017520"/>
            <a:ext cx="11521440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090672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max_depth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309067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3 –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9067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Profondeur max de chaque arbre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0906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contrôle la complexité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511296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584448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num_leaves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358444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20 – 150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35844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Nombre de feuilles par arbre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35844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num_leaves ≤ 2^max_depth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005072"/>
            <a:ext cx="11521440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07822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min_child_samples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4078224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5 – 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4078224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Échantillons min par feuille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0782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régularisation implicite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498848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57200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subsample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45720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0.5 –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4760" y="45720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Fraction des données par arbre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45720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réduit le surapprentissage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992624"/>
            <a:ext cx="11521440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5065776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colsample_bytree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23160" y="506577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0.5 – 1.0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4760" y="5065776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Fraction des features par arbre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50657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sélection aléatoire de colonnes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5486400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5559552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reg_alpha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23160" y="555955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1e-8 – 1.0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555955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Régularisation L1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86600" y="55595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mise à zéro des petits poids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980176"/>
            <a:ext cx="11521440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6053328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reg_lambda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23160" y="605332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1e-8 – 1.0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4760" y="605332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Régularisation L2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86600" y="60533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réduction des grands poids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Optuna — Résultats &amp;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LightGBM meilleur modèle · gain vs défaut : +2 000 $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Convergence des trials LightGBM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548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Trial #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00200"/>
            <a:ext cx="22860" cy="256032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5120640" cy="2286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4114800"/>
            <a:ext cx="201168" cy="0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6424" y="3188970"/>
            <a:ext cx="201168" cy="925830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44168" y="2726055"/>
            <a:ext cx="201168" cy="1388745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81912" y="2324862"/>
            <a:ext cx="201168" cy="1789938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19656" y="2201418"/>
            <a:ext cx="201168" cy="1913382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7400" y="2077974"/>
            <a:ext cx="201168" cy="2036826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95144" y="1985391"/>
            <a:ext cx="201168" cy="2129409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32888" y="1923669"/>
            <a:ext cx="201168" cy="2191131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70632" y="1877378"/>
            <a:ext cx="201168" cy="2237422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08376" y="1838493"/>
            <a:ext cx="201168" cy="2276307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1861947"/>
            <a:ext cx="201168" cy="2252853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83864" y="1923669"/>
            <a:ext cx="201168" cy="2191131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21608" y="1838493"/>
            <a:ext cx="201168" cy="2276307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59352" y="1824914"/>
            <a:ext cx="201168" cy="2289886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97096" y="1838493"/>
            <a:ext cx="201168" cy="2276307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1828000"/>
            <a:ext cx="201168" cy="228680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72584" y="1818742"/>
            <a:ext cx="201168" cy="2296058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10328" y="1838493"/>
            <a:ext cx="201168" cy="2276307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48072" y="1838493"/>
            <a:ext cx="201168" cy="2276307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85816" y="1818742"/>
            <a:ext cx="201168" cy="2296058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6517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677"/>
                </a:solidFill>
              </a:rPr>
              <a:t>31 000$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375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677"/>
                </a:solidFill>
              </a:rPr>
              <a:t>29 000$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3434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</a:rPr>
              <a:t>vert = nouveau meilleur · orange = &lt; 30k · bleu = autre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1430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Résultats comparés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600200"/>
            <a:ext cx="210312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16550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1600200"/>
            <a:ext cx="137160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50224" y="16550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RMSE opt.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1600200"/>
            <a:ext cx="77724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13264" y="1655064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27080" y="1600200"/>
            <a:ext cx="91440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81944" y="16550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Gain vs défaut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2057400"/>
            <a:ext cx="5440680" cy="58521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214884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E"/>
                </a:solidFill>
              </a:rPr>
              <a:t>LightGBM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21488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28 624 $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214884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0.871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2148840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7A48"/>
                </a:solidFill>
              </a:rPr>
              <a:t>+2 176 $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715768"/>
            <a:ext cx="544068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280720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2FBE"/>
                </a:solidFill>
              </a:rPr>
              <a:t>CatBoost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28072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28 900 $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28072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0.868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27080" y="280720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7A48"/>
                </a:solidFill>
              </a:rPr>
              <a:t>+1 200 $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3374136"/>
            <a:ext cx="5440680" cy="58521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3465576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5FB3"/>
                </a:solidFill>
              </a:rPr>
              <a:t>SVR RBF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346557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28 600 $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346557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0.857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27080" y="3465576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D"/>
                </a:solidFill>
              </a:rPr>
              <a:t>−200 $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4032504"/>
            <a:ext cx="544068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412394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XGBoost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95360" y="41239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28 000 $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412394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0.875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27080" y="4123944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7A48"/>
                </a:solidFill>
              </a:rPr>
              <a:t>+1 100 $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4690872"/>
            <a:ext cx="5440680" cy="58521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92240" y="4782312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A7A"/>
                </a:solidFill>
              </a:rPr>
              <a:t>HistGradBoost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47823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30 200 $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478231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0.851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27080" y="4782312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7A48"/>
                </a:solidFill>
              </a:rPr>
              <a:t>+500 $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2FB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884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Ingénierie des Prétraitements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520440"/>
            <a:ext cx="3657600" cy="64008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Preprocessing — Axes 1, 2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Imputation · Winsorizing · Yeo-Johnson — évalués par CV 5-fold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749039" cy="52120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9436" cy="3749039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Axe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Imputation Sémantique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A2FBE"/>
                </a:solidFill>
              </a:rPr>
              <a:t>+129 $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3566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NaN dans PoolQC, Alley, Fence, etc. ne signifie pas 'donnée inconnue'
mais 'cette caractéristique est absente'.
PoolQC → 'NoPool' · Alley → 'NoAlley' · Fence → 'NoFence'
GarageType → 'NoGarage' · BsmtQual → 'NoBsmt'
Imputer par le mode forcerait le modèle à croire que chaque maison
a une piscine de qualité 'TA' (Average).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143000"/>
            <a:ext cx="3749039" cy="52120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143000"/>
            <a:ext cx="59436" cy="3749039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12344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Axe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1554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Winsorizing P1/P99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20574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6A2D"/>
                </a:solidFill>
              </a:rPr>
              <a:t>+102 $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39" y="2487168"/>
            <a:ext cx="3566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Écrêtage des outliers aux percentiles 1 et 99.
GrLivArea : 3 maisons &gt; 4 000 sq ft → cappées à P99 = 3 500 sq ft
SalePrice : maisons à 750 000$ biaisent l'entraînement
Contrairement à la suppression, le Winsorizing conserve
toutes les observations (aucune perte de données).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8" y="1143000"/>
            <a:ext cx="3749039" cy="52120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8" y="1143000"/>
            <a:ext cx="59436" cy="3749039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12344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Axe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1554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Yeo-Johnson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8" y="20574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5FB3"/>
                </a:solidFill>
              </a:rPr>
              <a:t>+101 $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8" y="2487168"/>
            <a:ext cx="3566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Transformation paramétrique qui normalise les distributions asymétriques.
LotArea : asymétrie 12.2 → 0.3 après YJ
GrLivArea : asymétrie 1.4 → 0.1
Contrairement à log(), Yeo-Johnson gère aussi
les valeurs négatives et nulles.
Estime le paramètre λ optimal par MLE.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Preprocessing — Axes 4, 5 &amp;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OrdinalEncoder · TargetEncoder · Feature Interactions — gains majeurs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749039" cy="52120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9436" cy="3749039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Axe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OrdinalEncoder Ordonné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7A7A"/>
                </a:solidFill>
              </a:rPr>
              <a:t>+101 $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3566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Variables de qualité ont un ordre naturel :
Ex &gt; Gd &gt; TA &gt; Fa &gt; Po
OneHotEncoding les traite comme indépendants.
OrdinalEncoder : Ex=5, Gd=4, TA=3, Fa=2, Po=1
Le modèle peut alors apprendre que Ex &gt;&gt; Po.
Appliqué à : OverallQual, ExterQual, KitchenQual,
BsmtQual, HeatingQC, GarageFinish…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143000"/>
            <a:ext cx="3749039" cy="52120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143000"/>
            <a:ext cx="59436" cy="3749039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12344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Axe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1554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TargetEncoder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20574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6A2D"/>
                </a:solidFill>
              </a:rPr>
              <a:t>+556 $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39" y="2487168"/>
            <a:ext cx="3566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Neighborhood a 25 modalités.
OneHotEncoding → 25 colonnes sparse et redondantes.
TargetEncoder remplace chaque modalité par la
moyenne de SalePrice pour ce quartier.
Exemple : NoRidge → 335 977 $ (riche)
MeadowV → 98 576 $ (modeste)
Régularisation leave-one-out pour éviter le leakage.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8" y="1143000"/>
            <a:ext cx="3749039" cy="52120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8" y="1143000"/>
            <a:ext cx="59436" cy="3749039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12344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Axe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1554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Feature Interactions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8" y="20574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A2FBE"/>
                </a:solidFill>
              </a:rPr>
              <a:t>+949 $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8" y="2487168"/>
            <a:ext cx="3566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Créer des features qui capturent les interactions :
qual_x_area = OverallQual × GrLivArea
  → grande maison + haute qualité = prix premium
total_sf = GrLivArea + TotalBsmtSF + GarageArea
  → surface totale du bien
bath_score = FullBath + 0.5×HalfBath
  → score sanitaire pondéré
garage_ratio = GarageArea / max(GrLivArea, 1)
  → ratio garage/maison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Preprocessing — Récapitulatif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Pipeline final : CV-RMSE 26 418 $ · gain +1 237 $ vs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Gains cumulés en validation croisée 5-fold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11521440" cy="548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9DA"/>
                </a:solidFill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6916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Imputation médiane + OneHotEncoder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6916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BC9DA"/>
                </a:solidFill>
              </a:rPr>
              <a:t>27655$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755648"/>
            <a:ext cx="3657600" cy="22860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212848"/>
            <a:ext cx="115214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3042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7A7A"/>
                </a:solidFill>
              </a:rPr>
              <a:t>+ Axe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3042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Imputation sémantique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30428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D7A7A"/>
                </a:solidFill>
              </a:rPr>
              <a:t>27526$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368296"/>
            <a:ext cx="3657600" cy="22860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2368296"/>
            <a:ext cx="381431" cy="22860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1415" y="23042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7A7A"/>
                </a:solidFill>
              </a:rPr>
              <a:t>+129$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25496"/>
            <a:ext cx="11521440" cy="548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9169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5FB3"/>
                </a:solidFill>
              </a:rPr>
              <a:t>+ Axe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291693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Winsorizing P1/P99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91693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D5FB3"/>
                </a:solidFill>
              </a:rPr>
              <a:t>27424$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980944"/>
            <a:ext cx="3657600" cy="22860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2980944"/>
            <a:ext cx="683027" cy="22860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3011" y="291693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5FB3"/>
                </a:solidFill>
              </a:rPr>
              <a:t>+231$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438144"/>
            <a:ext cx="115214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52958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5FB3"/>
                </a:solidFill>
              </a:rPr>
              <a:t>+ Axe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52958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Yeo-Johnson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52958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D5FB3"/>
                </a:solidFill>
              </a:rPr>
              <a:t>27323$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3593592"/>
            <a:ext cx="3657600" cy="22860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75120" y="3593592"/>
            <a:ext cx="981667" cy="22860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11651" y="352958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5FB3"/>
                </a:solidFill>
              </a:rPr>
              <a:t>+332$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050792"/>
            <a:ext cx="11521440" cy="548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14223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7A7A"/>
                </a:solidFill>
              </a:rPr>
              <a:t>+ Axe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14223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OrdinalEncoder ordonné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41422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D7A7A"/>
                </a:solidFill>
              </a:rPr>
              <a:t>27222$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4206240"/>
            <a:ext cx="3657600" cy="22860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75120" y="4206240"/>
            <a:ext cx="1280307" cy="22860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0291" y="414223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7A7A"/>
                </a:solidFill>
              </a:rPr>
              <a:t>+433$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663440"/>
            <a:ext cx="115214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7548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A2D"/>
                </a:solidFill>
              </a:rPr>
              <a:t>+ Axe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8840" y="47548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TargetEncoder (Neighborhood…)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40680" y="47548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86A2D"/>
                </a:solidFill>
              </a:rPr>
              <a:t>26666$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4818888"/>
            <a:ext cx="3657600" cy="22860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675120" y="4818888"/>
            <a:ext cx="2924305" cy="22860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54289" y="4754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6A2D"/>
                </a:solidFill>
              </a:rPr>
              <a:t>+989$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276088"/>
            <a:ext cx="11521440" cy="548640"/>
          </a:xfrm>
          <a:prstGeom prst="rect">
            <a:avLst/>
          </a:prstGeom>
          <a:solidFill>
            <a:srgbClr val="F0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5276088"/>
            <a:ext cx="11521440" cy="36576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53675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Pipeline final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48840" y="53675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Toutes axes combinés + interactions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80" y="536752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47A48"/>
                </a:solidFill>
              </a:rPr>
              <a:t>26418$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5431536"/>
            <a:ext cx="3657600" cy="228600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75120" y="5431536"/>
            <a:ext cx="3657600" cy="228600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87584" y="5367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7A48"/>
                </a:solidFill>
              </a:rPr>
              <a:t>+1237$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7A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B9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Résultats &amp;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520440"/>
            <a:ext cx="3657600" cy="64008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Résultats Finaux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LightGBM + TargetEncoder + Feature Interactions + Yeo-Johnson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834640" cy="15087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2834640" cy="5029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2B5E"/>
                </a:solidFill>
              </a:rPr>
              <a:t>26 338 $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1051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RMSE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214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677"/>
                </a:solidFill>
              </a:rPr>
              <a:t>erreur de prédiction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97280"/>
            <a:ext cx="2834640" cy="15087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097280"/>
            <a:ext cx="2834640" cy="50292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188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6A2D"/>
                </a:solidFill>
              </a:rPr>
              <a:t>17 058 $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81051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MAE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1214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677"/>
                </a:solidFill>
              </a:rPr>
              <a:t>écart absolu moyen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097280"/>
            <a:ext cx="2834640" cy="15087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097280"/>
            <a:ext cx="2834640" cy="5029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188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7A7A"/>
                </a:solidFill>
              </a:rPr>
              <a:t>0.891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1051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R²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1214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677"/>
                </a:solidFill>
              </a:rPr>
              <a:t>variance expliquée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097280"/>
            <a:ext cx="2743200" cy="15087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097280"/>
            <a:ext cx="2743200" cy="50292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188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47A48"/>
                </a:solidFill>
              </a:rPr>
              <a:t>26 418 $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81051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CV-RMSE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1214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677"/>
                </a:solidFill>
              </a:rPr>
              <a:t>valid. croisée 5-fold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2834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Évolution des performances au fil du projet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310128"/>
            <a:ext cx="411480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" y="336499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Étape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3310128"/>
            <a:ext cx="128016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1144" y="33649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97880" y="3310128"/>
            <a:ext cx="77724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52744" y="336499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3310128"/>
            <a:ext cx="150876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1424" y="336499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Δ vs précédent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66760" y="3310128"/>
            <a:ext cx="310896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1624" y="33649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Progression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767328"/>
            <a:ext cx="11521440" cy="47548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84048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Baseline — DummyRegressor (moyenne)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384048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C9DA"/>
                </a:solidFill>
              </a:rPr>
              <a:t>79000$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384048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8404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77"/>
                </a:solidFill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3886200"/>
            <a:ext cx="3200400" cy="21945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4315968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38912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SVR RBF brut (sans log-transform)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438912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1E3A"/>
                </a:solidFill>
              </a:rPr>
              <a:t>83000$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438912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3891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1E3A"/>
                </a:solidFill>
              </a:rPr>
              <a:t>+4000$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66760" y="4434840"/>
            <a:ext cx="3200400" cy="21945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4864608"/>
            <a:ext cx="11521440" cy="47548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493776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SVR RBF + log1p(SalePrice)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493776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D5FB3"/>
                </a:solidFill>
              </a:rPr>
              <a:t>28600$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0" y="49377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0.857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49377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7A48"/>
                </a:solidFill>
              </a:rPr>
              <a:t>−54400$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66760" y="4983480"/>
            <a:ext cx="3200400" cy="21945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66760" y="4983480"/>
            <a:ext cx="2041774" cy="219456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0040" y="5413248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548640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LightGBM + Optuna (60 trials)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80" y="54864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6A2D"/>
                </a:solidFill>
              </a:rPr>
              <a:t>28624$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97880" y="548640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0.871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0" y="54864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1E3A"/>
                </a:solidFill>
              </a:rPr>
              <a:t>+24$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66760" y="5532120"/>
            <a:ext cx="3200400" cy="21945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366760" y="5532120"/>
            <a:ext cx="2040801" cy="219456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20040" y="5961888"/>
            <a:ext cx="11521440" cy="475488"/>
          </a:xfrm>
          <a:prstGeom prst="rect">
            <a:avLst/>
          </a:prstGeom>
          <a:solidFill>
            <a:srgbClr val="F0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603504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LightGBM + Pipeline final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26280" y="603504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7A48"/>
                </a:solidFill>
              </a:rPr>
              <a:t>26338$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97880" y="60350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0.891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60350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7A48"/>
                </a:solidFill>
              </a:rPr>
              <a:t>−2286$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66760" y="6080760"/>
            <a:ext cx="3200400" cy="21945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66760" y="6080760"/>
            <a:ext cx="2133410" cy="219456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Features les Plus Importantes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LightGBM — gain d'information · ★ = feature engineered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Top 12 features par gain d'information LightGBM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347472" cy="34747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3677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3677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overallqual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16367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Qualité générale matériaux (1–10)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664208"/>
            <a:ext cx="3474720" cy="21945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1664208"/>
            <a:ext cx="3405225" cy="21945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09529" y="162763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E"/>
                </a:solidFill>
              </a:rPr>
              <a:t>0.98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163677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</a:rPr>
              <a:t>Variable la plus discriminante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20824"/>
            <a:ext cx="347472" cy="34747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05740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0574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grlivarea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2057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Surface habitable au-dessus sol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084832"/>
            <a:ext cx="3474720" cy="21945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2084832"/>
            <a:ext cx="2953512" cy="21945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57816" y="20482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E"/>
                </a:solidFill>
              </a:rPr>
              <a:t>0.85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20574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</a:rPr>
              <a:t>Corrélation linéaire la plus forte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441448"/>
            <a:ext cx="347472" cy="34747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478024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247802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totalbsmtsf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9232" y="24780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Surface totale sous-sol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505456"/>
            <a:ext cx="3474720" cy="21945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49440" y="2505456"/>
            <a:ext cx="2501798" cy="21945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6102" y="24688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E"/>
                </a:solidFill>
              </a:rPr>
              <a:t>0.72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247802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</a:rPr>
              <a:t>Surface totale indicateur de taille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862072"/>
            <a:ext cx="347472" cy="347472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89864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28986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qual_x_area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9232" y="28986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qual × grlivarea  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2926080"/>
            <a:ext cx="3474720" cy="21945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49440" y="2926080"/>
            <a:ext cx="2362809" cy="219456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67113" y="28895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2FBE"/>
                </a:solidFill>
              </a:rPr>
              <a:t>0.68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289864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</a:rPr>
              <a:t>Interaction engineered — très efficace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282696"/>
            <a:ext cx="347472" cy="347472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319272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331927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neighborhood_enc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9232" y="33192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Quartier (TargetEncoded)  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3346704"/>
            <a:ext cx="3474720" cy="21945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49440" y="3346704"/>
            <a:ext cx="2119579" cy="219456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23883" y="33101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2FBE"/>
                </a:solidFill>
              </a:rPr>
              <a:t>0.61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331927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</a:rPr>
              <a:t>25 quartiers → 1 valeur numérique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703320"/>
            <a:ext cx="347472" cy="34747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73989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" y="373989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garagecars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99232" y="373989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Capacité du garage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3767328"/>
            <a:ext cx="3474720" cy="21945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49440" y="3767328"/>
            <a:ext cx="1911096" cy="21945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15400" y="37307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E"/>
                </a:solidFill>
              </a:rPr>
              <a:t>0.55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4240" y="373989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</a:rPr>
              <a:t>Proxy de la valeur du bien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123944"/>
            <a:ext cx="347472" cy="34747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16052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" y="41605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exterqual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99232" y="41605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Qualité revêtement extérieur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9440" y="4187952"/>
            <a:ext cx="3474720" cy="21945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949440" y="4187952"/>
            <a:ext cx="1806854" cy="21945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11158" y="415137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E"/>
                </a:solidFill>
              </a:rPr>
              <a:t>0.52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64240" y="416052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</a:rPr>
              <a:t>Impression visuelle = signal fort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4544568"/>
            <a:ext cx="347472" cy="347472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581144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8952" y="458114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building_age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99232" y="458114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Âge du bâtiment  ★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49440" y="4608576"/>
            <a:ext cx="3474720" cy="21945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949440" y="4608576"/>
            <a:ext cx="1667865" cy="219456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72169" y="4572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2FBE"/>
                </a:solidFill>
              </a:rPr>
              <a:t>0.48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64240" y="458114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</a:rPr>
              <a:t>Feature temporelle engineered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4965192"/>
            <a:ext cx="347472" cy="34747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500176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8952" y="50017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garagearea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99232" y="50017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Surface du garage (sq ft)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49440" y="5029200"/>
            <a:ext cx="3474720" cy="21945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49440" y="5029200"/>
            <a:ext cx="1528876" cy="21945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33180" y="499262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E"/>
                </a:solidFill>
              </a:rPr>
              <a:t>0.44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064240" y="500176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</a:rPr>
              <a:t>Corrélé à garagecars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5385816"/>
            <a:ext cx="347472" cy="34747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5422392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8952" y="542239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kitchenqual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99232" y="54223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Qualité cuisine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49440" y="5449824"/>
            <a:ext cx="3474720" cy="21945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49440" y="5449824"/>
            <a:ext cx="1424635" cy="21945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28939" y="54132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E"/>
                </a:solidFill>
              </a:rPr>
              <a:t>0.41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64240" y="542239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</a:rPr>
              <a:t>Haute importance perçue acheteurs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5806440"/>
            <a:ext cx="347472" cy="34747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0040" y="584301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8952" y="584301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bsmtqual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99232" y="584301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Hauteur/qualité sous-sol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949440" y="5870448"/>
            <a:ext cx="3474720" cy="21945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949440" y="5870448"/>
            <a:ext cx="1250899" cy="21945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55203" y="58338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E"/>
                </a:solidFill>
              </a:rPr>
              <a:t>0.36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" y="6227064"/>
            <a:ext cx="347472" cy="347472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20040" y="626364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8952" y="62636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total_sf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999232" y="62636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Surface totale (GrLiv+Bsmt+Gar)  ★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49440" y="6291072"/>
            <a:ext cx="3474720" cy="219456"/>
          </a:xfrm>
          <a:prstGeom prst="rect">
            <a:avLst/>
          </a:prstGeom>
          <a:solidFill>
            <a:srgbClr val="BBC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949440" y="6291072"/>
            <a:ext cx="1146657" cy="219456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150961" y="625449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2FBE"/>
                </a:solidFill>
              </a:rPr>
              <a:t>0.33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064240" y="626364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</a:rPr>
              <a:t>Feature engineered — totale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20040" y="6629400"/>
            <a:ext cx="11521440" cy="20116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57200" y="6647688"/>
            <a:ext cx="11155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</a:rPr>
              <a:t>★ features engineered (non présentes dans Ames Housing original)   |   violet = engineered   ·   bleu marine = originale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E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API REST &amp;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520440"/>
            <a:ext cx="3657600" cy="64008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API REST — Architecture FastAPI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src/api.py · modèle chargé au démarrage · prédiction step-by-step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Architecture &amp; Choix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600200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FastAPI : validation automatique + Swagger UI intégré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574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057400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Pydantic : 26 features typées avec valeurs par défaut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146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514600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Modèle chargé au niveau module (1 seule fois au démarrage)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971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2971800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Priorité aux modèles *model_house_price*.dill (sklearn standard)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4290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" y="3429000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Prédiction manuelle via _pipeline._iter() — contourne incompatibilité
  sklearn set_output avec transformers custom Jupyter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8862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3886200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np.expm1() appliqué si modèle entraîné sur cible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1430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Endpoints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600200"/>
            <a:ext cx="5943600" cy="60350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600200"/>
            <a:ext cx="685800" cy="603504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17099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6916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16916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Bienvenue + liens utiles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2276856"/>
            <a:ext cx="5943600" cy="60350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2276856"/>
            <a:ext cx="685800" cy="603504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2386584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36829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/health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36829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Statut API + modèle chargé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2953512"/>
            <a:ext cx="5943600" cy="60350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2953512"/>
            <a:ext cx="685800" cy="603504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3063240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0449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/model-info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304495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Métriques + infos modèle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630168"/>
            <a:ext cx="5943600" cy="60350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3630168"/>
            <a:ext cx="685800" cy="603504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373989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7216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/predict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372160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Prédiction d'une maison (1)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4306824"/>
            <a:ext cx="5943600" cy="60350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0" y="4306824"/>
            <a:ext cx="685800" cy="603504"/>
          </a:xfrm>
          <a:prstGeom prst="rect">
            <a:avLst/>
          </a:prstGeom>
          <a:solidFill>
            <a:srgbClr val="C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4416552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439826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/predict/batch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439826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Batch jusqu'à 100 maisons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4983480"/>
            <a:ext cx="5943600" cy="60350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43600" y="4983480"/>
            <a:ext cx="685800" cy="603504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0" y="509320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50749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/docs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15400" y="50749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Swagger UI interactif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API REST — 26 Features Pydantic &amp; Exemple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Schéma de validation · réponse JSON · curl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E"/>
                </a:solidFill>
              </a:rPr>
              <a:t>Features numériques (10)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146304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1627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572768"/>
            <a:ext cx="82296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9383" y="16276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572768"/>
            <a:ext cx="77724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162763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Défaut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572768"/>
            <a:ext cx="2057400" cy="38404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4" y="16276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29968"/>
            <a:ext cx="5394960" cy="34747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07568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garagecars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39" y="2075688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int  0–5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075688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075688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Capacité garage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32304"/>
            <a:ext cx="5394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478024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fullbath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39" y="2478024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int  0–5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478024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247802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Salles de bain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834640"/>
            <a:ext cx="5394960" cy="34747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88036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building_age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39" y="2880360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float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2880360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20.0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288036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yrsold − yearbuilt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236976"/>
            <a:ext cx="5394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282696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garagearea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39" y="3282696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float ≥0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3282696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500.0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328269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Surface garage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639312"/>
            <a:ext cx="5394960" cy="34747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685032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totrmsabvgrd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39" y="3685032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int  1–20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368503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368503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Total pièces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041648"/>
            <a:ext cx="5394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08736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remodel_age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39" y="4087368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float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4087368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20.0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4087368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Depuis rénovation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443984"/>
            <a:ext cx="5394960" cy="34747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4489704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garage_age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39" y="4489704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float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4489704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20.0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03320" y="448970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Âge du garage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846320"/>
            <a:ext cx="5394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89204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grlivarea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20239" y="4892040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float ≥0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34640" y="4892040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1500.0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03320" y="489204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Surface habitable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248656"/>
            <a:ext cx="5394960" cy="34747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5294376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fireplaces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20239" y="5294376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int  0–4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34640" y="5294376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03320" y="529437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Cheminées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5650992"/>
            <a:ext cx="5394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5696712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totalbsmtsf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20239" y="5696712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float ≥0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34640" y="569671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800.0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03320" y="569671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Surface sous-sol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0" y="11430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E"/>
                </a:solidFill>
              </a:rPr>
              <a:t>Features catégorielles (16)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0" y="1600200"/>
            <a:ext cx="5943600" cy="31089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35040" y="1636776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overallqual  →  '1' à '10'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0" y="1947672"/>
            <a:ext cx="59436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35040" y="1984248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neighborhood  →  CollgCr, OldTown, Edwards, Somerst…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0" y="2295144"/>
            <a:ext cx="5943600" cy="31089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35040" y="233172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exterqual / kitchenqual / bsmtqual  →  Ex/Gd/TA/Fa/Po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2642616"/>
            <a:ext cx="59436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35040" y="2679192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alley  →  Grvl / Pave / NoAlley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0" y="2990088"/>
            <a:ext cx="5943600" cy="31089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35040" y="3026664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garagefinish  →  Fin / RFn / Unf / NoGarage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0" y="3337560"/>
            <a:ext cx="59436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35040" y="3374136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foundation  →  BrkTil / CBlock / PConc / Slab…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43600" y="3685032"/>
            <a:ext cx="5943600" cy="31089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35040" y="3721608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mssubclass  →  '20' / '60' / '120' (type logement)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4032504"/>
            <a:ext cx="59436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35040" y="406908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garagetype  →  Attchd / Detchd / BuiltIn / CarPort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43600" y="4379976"/>
            <a:ext cx="5943600" cy="31089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035040" y="4416552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heatingqc  →  Ex / Gd / TA / Fa / Po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0" y="4727448"/>
            <a:ext cx="59436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35040" y="4764024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exterior1st &amp; 2nd  →  VinylSd / HdBoard / MetalSd…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43600" y="5074920"/>
            <a:ext cx="5943600" cy="31089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35040" y="5111496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bsmtfintype1  →  GLQ / ALQ / BLQ / Rec / LwQ / Unf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5422392"/>
            <a:ext cx="59436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035040" y="5458968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masvnrtype  →  BrkFace / Stone / None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0" y="5769864"/>
            <a:ext cx="5943600" cy="31089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35040" y="580644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mszoning  →  RL / RM / C(all) / FV / RH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20040" y="6126480"/>
            <a:ext cx="11521440" cy="69494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623620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FFAA"/>
                </a:solidFill>
              </a:rPr>
              <a:t>→  {"predicted_price": 214 758.50,  "currency": "USD",  "model_used": "20260610_model_house_price.dill"}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Containerisation —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Dockerfile · docker-compose.yml · HEALTHCHECK · 2 workers uvicorn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Dockerfile — couche par couche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5303520" cy="58521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59436" cy="58521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550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FROM python:3.11-slim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65506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77"/>
                </a:solidFill>
              </a:rPr>
              <a:t>Image légère — pas de Jupyter ni dev-tools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258568"/>
            <a:ext cx="5303520" cy="58521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258568"/>
            <a:ext cx="59436" cy="585216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134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RUN apt-get install gcc g++ libgomp1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31343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77"/>
                </a:solidFill>
              </a:rPr>
              <a:t>Compilateurs C++ requis par LightGBM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16936"/>
            <a:ext cx="5303520" cy="58521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916936"/>
            <a:ext cx="59436" cy="585216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9718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COPY requirements.txt → pip install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97180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77"/>
                </a:solidFill>
              </a:rPr>
              <a:t>Dépendances runtime uniquement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75304"/>
            <a:ext cx="5303520" cy="58521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575304"/>
            <a:ext cx="59436" cy="585216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301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COPY src/ settings/ models/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63016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77"/>
                </a:solidFill>
              </a:rPr>
              <a:t>Code source + modèle sérialisé .dill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33672"/>
            <a:ext cx="5303520" cy="58521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233672"/>
            <a:ext cx="59436" cy="585216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885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EXPOSE 8000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28853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77"/>
                </a:solidFill>
              </a:rPr>
              <a:t>Port de l'API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892040"/>
            <a:ext cx="5303520" cy="58521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892040"/>
            <a:ext cx="59436" cy="585216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9469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HEALTHCHECK urllib /health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94690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77"/>
                </a:solidFill>
              </a:rPr>
              <a:t>Surveillance santé du container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550408"/>
            <a:ext cx="5303520" cy="585216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5550408"/>
            <a:ext cx="59436" cy="585216"/>
          </a:xfrm>
          <a:prstGeom prst="rect">
            <a:avLst/>
          </a:prstGeom>
          <a:solidFill>
            <a:srgbClr val="C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6052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CMD uvicorn --workers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560527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77"/>
                </a:solidFill>
              </a:rPr>
              <a:t>2 workers → parallélisation des requêtes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11430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Commandes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1600200"/>
            <a:ext cx="5943600" cy="74980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1600200"/>
            <a:ext cx="59436" cy="74980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16733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6677"/>
                </a:solidFill>
              </a:rPr>
              <a:t>Build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198424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docker build -t laplace-immo-api 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2441448"/>
            <a:ext cx="5943600" cy="74980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0" y="2441448"/>
            <a:ext cx="59436" cy="749808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2514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6677"/>
                </a:solidFill>
              </a:rPr>
              <a:t>Run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282549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docker run -p 8000:8000 laplace-immo-api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3282696"/>
            <a:ext cx="5943600" cy="74980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3282696"/>
            <a:ext cx="59436" cy="749808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33558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6677"/>
                </a:solidFill>
              </a:rPr>
              <a:t>Compose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366674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docker compose up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4123944"/>
            <a:ext cx="5943600" cy="74980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43600" y="4123944"/>
            <a:ext cx="59436" cy="749808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41970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6677"/>
                </a:solidFill>
              </a:rPr>
              <a:t>Test santé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450799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curl http://localhost:8000/health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4965192"/>
            <a:ext cx="5943600" cy="74980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43600" y="4965192"/>
            <a:ext cx="59436" cy="749808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50383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6677"/>
                </a:solidFill>
              </a:rPr>
              <a:t>Swagger UI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53492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http://localhost:8000/docs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5897880"/>
            <a:ext cx="5943600" cy="5943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43600" y="5897880"/>
            <a:ext cx="59436" cy="594360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0" y="5961888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volumes: ./models:/app/models:ro
→ mise à jour du modèle SANS rebuild image Docker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API en Production — Swagger UI (Railway)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https://clever-harmony-production-ced2.up.railway.app/docs</a:t>
            </a:r>
          </a:p>
        </p:txBody>
      </p:sp>
      <p:pic>
        <p:nvPicPr>
          <p:cNvPr id="6" name="Picture 5" descr="swagger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804672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0972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E"/>
                </a:solidFill>
              </a:rPr>
              <a:t>URL publique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4630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clever-harmony-production-ced2
.up.railway.app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2286000"/>
            <a:ext cx="3291840" cy="69494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2286000"/>
            <a:ext cx="59436" cy="694944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23500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/health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6517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Statut + modèle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3063240"/>
            <a:ext cx="3291840" cy="69494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95360" y="3063240"/>
            <a:ext cx="59436" cy="694944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127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/model-info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4290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Métriques RMSE/R²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3840480"/>
            <a:ext cx="3291840" cy="69494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95360" y="3840480"/>
            <a:ext cx="59436" cy="694944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39044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/predict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2062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Prédiction unitaire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4617720"/>
            <a:ext cx="3291840" cy="69494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0" y="4617720"/>
            <a:ext cx="59436" cy="694944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46817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/predict/batch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9834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Batch 100 maisons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5486400"/>
            <a:ext cx="3291840" cy="65836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555955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Déployé via CI/CD
GitHub Actions → Railway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B4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MLOps &amp;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520440"/>
            <a:ext cx="3657600" cy="64008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MLFlow &amp; DVC — Traçabilité &amp; Reproductibilité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528 runs · 4 expériences · pipeline versionné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MLFlow — Tracking complet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256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600200"/>
            <a:ext cx="50657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528 runs enregistrés dans 4 expériences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39112"/>
            <a:ext cx="256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039112"/>
            <a:ext cx="50657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Par run : hyperparamètres + métriques + artefacts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478024"/>
            <a:ext cx="256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478024"/>
            <a:ext cx="50657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Nested runs Optuna : trial = run enfant visible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916936"/>
            <a:ext cx="256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2916936"/>
            <a:ext cx="50657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Comparaison visuelle de tous les modèles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355848"/>
            <a:ext cx="256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" y="3355848"/>
            <a:ext cx="50657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Interface : mlflow ui --port 5001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94760"/>
            <a:ext cx="256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9DA"/>
                </a:solidFill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3794760"/>
            <a:ext cx="4791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http://127.0.0.1:5001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40480"/>
            <a:ext cx="5303520" cy="548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840480"/>
            <a:ext cx="59436" cy="54864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31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Benchmark initial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9319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2B5E"/>
                </a:solidFill>
              </a:rPr>
              <a:t>54 runs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462272"/>
            <a:ext cx="5303520" cy="548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462272"/>
            <a:ext cx="59436" cy="54864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5537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Optuna LightGBM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5537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86A2D"/>
                </a:solidFill>
              </a:rPr>
              <a:t>60 trials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084064"/>
            <a:ext cx="5303520" cy="548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084064"/>
            <a:ext cx="59436" cy="548640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17550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Optuna XGBoost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17550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D5FB3"/>
                </a:solidFill>
              </a:rPr>
              <a:t>60 trials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705856"/>
            <a:ext cx="5303520" cy="5486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5705856"/>
            <a:ext cx="59436" cy="548640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7972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Pipeline DVC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579729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47A48"/>
                </a:solidFill>
              </a:rPr>
              <a:t>n runs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11430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DVC — Pipeline reproductible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16002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1344" y="1600200"/>
            <a:ext cx="5705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Versionnage des données et des modèles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0574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344" y="2057400"/>
            <a:ext cx="5705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dvc repro : ré-exécute seulement les étapes impactées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25146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1344" y="2514600"/>
            <a:ext cx="5705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dvc metrics diff : compare RMSE entre branches git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2971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344" y="2971800"/>
            <a:ext cx="5705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Reproductibilité garantie sur n'importe quelle machine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34290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1344" y="3429000"/>
            <a:ext cx="5705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Compatible git : hash des fichiers = empreinte DVC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3931920"/>
            <a:ext cx="2651760" cy="14630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0" y="3931920"/>
            <a:ext cx="2651760" cy="5943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08192" y="402336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make_dataset.py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08192" y="4407408"/>
            <a:ext cx="23317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data/output/
house_prices.parquet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80" y="4297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6A2D"/>
                </a:solidFill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3931920"/>
            <a:ext cx="2651760" cy="14630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961120" y="3931920"/>
            <a:ext cx="2651760" cy="5943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25712" y="402336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train_pipeline.py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25712" y="4407408"/>
            <a:ext cx="23317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models/*.dill
metrics.json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5532120"/>
            <a:ext cx="594360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26480" y="56692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FFAA"/>
                </a:solidFill>
              </a:rPr>
              <a:t>metrics.json → { "rmse_test": 26337.89,  "r2_test": 0.891 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Monitoring — Détection de Drift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src/monitoring.py · Evidently + KS-test scipy · 8 features surveillées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Pourquoi monitorer en production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256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600200"/>
            <a:ext cx="11192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Les données en production dérivent : inflation, nouvelles tendances, saisonnalité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39112"/>
            <a:ext cx="256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039112"/>
            <a:ext cx="11192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Un modèle précis peut se dégrader silencieusement — le RMSE grimpe sans alerte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478024"/>
            <a:ext cx="256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478024"/>
            <a:ext cx="11192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Détection précoce → réentraînement ciblé avant que la qualité ne chute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06040"/>
            <a:ext cx="3749039" cy="32004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606040"/>
            <a:ext cx="59436" cy="3749039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6974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Evidently (rapport complet)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3154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Rapport HTML interactif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36301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DataDriftPreset : drift par feature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10565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DataQualityPreset : qualité des données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45811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TargetDriftPreset : drift de SalePrice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50566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Sauvegarde : reports/monitoring_drift_report.html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2606040"/>
            <a:ext cx="3749039" cy="32004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79" y="2606040"/>
            <a:ext cx="59436" cy="3749039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1" y="26974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KS-test scipy (léger)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1" y="3154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Test Kolmogorov-Smirnov par feature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1" y="36301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p-value &lt; 0.05 → drift détecté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1" y="410565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Rapide, sans dépendance lourde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1" y="45811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Fallback si Evidently non disponible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1" y="50566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Retourne statistiques détaillées par feature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8" y="2606040"/>
            <a:ext cx="3749039" cy="32004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18" y="2606040"/>
            <a:ext cx="59436" cy="3749039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0" y="26974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Données simulées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910" y="3154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30% des features × facteur 1.2–1.5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0" y="36301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Simule un drift de 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0" y="410565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En prod : données reçues via l'API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0" y="45811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2/8 drifts détectés 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9910" y="50566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bsmtfinsf1 · building_age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989320"/>
            <a:ext cx="11521440" cy="73152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5989320"/>
            <a:ext cx="59436" cy="731520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10819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Résultat test :  2/8 features driftées  →  bsmtfinsf1 (moy. 443→638)  ·  building_age (moy. 36→50)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Tests Unitaires &amp; Intégration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20 tests · pytest · mock sans appel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20 tests répartis en 3 fichiers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3749039" cy="52120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59436" cy="3749039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71800" y="1664208"/>
            <a:ext cx="822960" cy="347472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70992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test_make_dataset.py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66420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084831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0311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test_load_data_returns_dataframe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359151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Retourne un pd.DataFrame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596895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615183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test_load_data_lowercase_columns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71215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Colonnes en minuscules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3108959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127247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test_load_data_feature_engineering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83279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building_age, remodel_age, garage_age créées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3621023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3931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test_load_data_raises_on_empty_name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895343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ValueError si dataset_name = ''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133087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151375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test_load_data_raises_on_none_name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07407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ValueError si dataset_name = None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1600200"/>
            <a:ext cx="3749039" cy="52120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79" y="1600200"/>
            <a:ext cx="59436" cy="3749039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49439" y="1664208"/>
            <a:ext cx="822960" cy="34747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1" y="170992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test_trainer.py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39" y="166420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2084831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79" y="210311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test_define_pipeline_returns_pipeline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79" y="2359151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define_pipeline() → sklearn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1" y="2596895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79" y="2615183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test_fit_splits_data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79" y="2871215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Après fit(), X_train et X_test non nuls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2271" y="3108959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79" y="3127247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test_train_returns_metrics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79" y="3383279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train() retourne RMSE, MAE, R²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2271" y="3621023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79" y="363931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test_predict_returns_correct_shape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79" y="3895343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predict() retourne la bonne longueur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2271" y="4133087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79" y="4151375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test_train_test_size_respected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79" y="4407407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test_size = 20% respecté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62271" y="4645151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79" y="46634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test_score_returns_float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79" y="4919471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score() retourne un float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75318" y="1600200"/>
            <a:ext cx="3749039" cy="521208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75318" y="1600200"/>
            <a:ext cx="59436" cy="3749039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927078" y="1664208"/>
            <a:ext cx="822960" cy="347472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9910" y="170992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test_api.py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27078" y="166420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9 tests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39910" y="2084831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32518" y="210311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test_root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18" y="2359151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GET / → 200 avec clé 'docs'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39910" y="2596895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32518" y="2615183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test_health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32518" y="2871215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model_loaded = True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9910" y="3108959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32518" y="3127247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test_predict_returns_positive_price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32518" y="3383279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prix prédit &gt; 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9910" y="3621023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32518" y="363931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test_predict_high_quality_house_costs_more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32518" y="3895343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qualité 9 &gt; qualité 3 (sanity)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39910" y="4133087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32518" y="4151375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test_predict_batch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32518" y="4407407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Batch 2 maisons → count=2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39910" y="4645151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8"/>
                </a:solidFill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32518" y="46634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test_docs_available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32518" y="4919471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Swagger UI accessible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6126480"/>
            <a:ext cx="11521440" cy="6858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20040" y="6126480"/>
            <a:ext cx="11521440" cy="59436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920" y="623620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</a:rPr>
              <a:t>Tous les tests utilisent unittest.mock.patch pour simuler fetch_openml — aucun appel réseau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CI/CD —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3 jobs séquentiels · automatique à chaque push sur n'importe quelle branche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Pipeline automatique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3749039" cy="438912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59436" cy="3749039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6916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5FB3"/>
                </a:solidFill>
              </a:rPr>
              <a:t>Job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916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Tests Unitaires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176272"/>
            <a:ext cx="3429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pytest tests/ -v
--ignore=tests/test_api.py
11 tests (make_dataset + trainer)
Si échec → Jobs 2 &amp; 3 bloqués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918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BC9DA"/>
                </a:solidFill>
              </a:rPr>
              <a:t>↓ si succès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600200"/>
            <a:ext cx="3749039" cy="438912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600200"/>
            <a:ext cx="59436" cy="3749039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1" y="16916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7A48"/>
                </a:solidFill>
              </a:rPr>
              <a:t>Job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799" y="16916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Pipeline DVC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2176272"/>
            <a:ext cx="3429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needs: tests
python src/train_pipeline.py
Entraîne le modèle
Upload metrics.json
comme artefact 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39" y="32918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BC9DA"/>
                </a:solidFill>
              </a:rPr>
              <a:t>↓ si succès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8" y="1600200"/>
            <a:ext cx="3749039" cy="438912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18" y="1600200"/>
            <a:ext cx="59436" cy="3749039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0" y="16916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2D"/>
                </a:solidFill>
              </a:rPr>
              <a:t>Job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38" y="16916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Tests API + 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0" y="2176272"/>
            <a:ext cx="3429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needs: dvc-pipeline
python src/train_pipeline.py
pytest tests/test_api.py
  (9 tests intégration)
docker build -t laplace-immo-api 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E"/>
                </a:solidFill>
              </a:rPr>
              <a:t>Déclencheur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</a:rPr>
              <a:t>on: push (branches: **) + pull_request (branches: **) — tous les push déclenchent la CI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Stack Technique Complète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E"/>
                </a:solidFill>
              </a:rPr>
              <a:t>Toutes les technologies utilisées dans ce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11521440" cy="42062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59436" cy="420624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642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scikit-learn · XGBoost · LightGBM · CatBoost · Ridge · SVR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75688"/>
            <a:ext cx="115214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075688"/>
            <a:ext cx="59436" cy="420624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3969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Optimisation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1396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Optuna 4.4 (TPE, pruning Median) · 60 trials/modèle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51176"/>
            <a:ext cx="11521440" cy="42062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551176"/>
            <a:ext cx="59436" cy="420624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1518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MLOps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61518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MLFlow 3.1 (528 runs, 4 expériences) · DVC 3+ (pipeline reproductible)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026664"/>
            <a:ext cx="115214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026664"/>
            <a:ext cx="59436" cy="420624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0906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Feature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090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PPS · TargetEncoder · Yeo-Johnson · OrdinalEncoder · Interactions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02152"/>
            <a:ext cx="11521440" cy="42062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502152"/>
            <a:ext cx="59436" cy="420624"/>
          </a:xfrm>
          <a:prstGeom prst="rect">
            <a:avLst/>
          </a:prstGeom>
          <a:solidFill>
            <a:srgbClr val="C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566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3566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FastAPI · Pydantic · uvicorn[standard] · httpx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977640"/>
            <a:ext cx="115214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977640"/>
            <a:ext cx="59436" cy="420624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041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Sérialisation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0416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dill 0.4 (supporte lambdas + objets Python complexes)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453128"/>
            <a:ext cx="11521440" cy="42062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453128"/>
            <a:ext cx="59436" cy="420624"/>
          </a:xfrm>
          <a:prstGeom prst="rect">
            <a:avLst/>
          </a:prstGeom>
          <a:solidFill>
            <a:srgbClr val="1D5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51713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451713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Evidently · scipy (KS-test) · category-encoders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928616"/>
            <a:ext cx="115214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4928616"/>
            <a:ext cx="59436" cy="420624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9926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Containerisation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49926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Docker (python:3.11-slim) · docker-compose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404104"/>
            <a:ext cx="11521440" cy="42062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5404104"/>
            <a:ext cx="59436" cy="420624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4681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Tests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80" y="54681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pytest 8+ · pytest-asyncio · FastAPI TestClient · unittest.mock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879592"/>
            <a:ext cx="115214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5879592"/>
            <a:ext cx="59436" cy="420624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943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CI/CD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97480" y="5943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GitHub Actions (4 jobs) · Railway déploiement automatique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6355080"/>
            <a:ext cx="11521440" cy="420624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6355080"/>
            <a:ext cx="59436" cy="420624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419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Utilitaires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97480" y="6419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loguru · pendulum · pyarrow · numpy 1.26 · pandas 2.3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Bilan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194560" cy="14630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194560" cy="5029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2B5E"/>
                </a:solidFill>
              </a:rPr>
              <a:t>26 338 $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5623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RMSE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67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677"/>
                </a:solidFill>
              </a:rPr>
              <a:t>erreur prédiction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143000"/>
            <a:ext cx="2194560" cy="14630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1143000"/>
            <a:ext cx="2194560" cy="50292"/>
          </a:xfrm>
          <a:prstGeom prst="rect">
            <a:avLst/>
          </a:prstGeom>
          <a:solidFill>
            <a:srgbClr val="14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234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47A48"/>
                </a:solidFill>
              </a:rPr>
              <a:t>0.891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85623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R²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167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677"/>
                </a:solidFill>
              </a:rPr>
              <a:t>variance expliquée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143000"/>
            <a:ext cx="2194560" cy="14630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1143000"/>
            <a:ext cx="2194560" cy="50292"/>
          </a:xfrm>
          <a:prstGeom prst="rect">
            <a:avLst/>
          </a:prstGeom>
          <a:solidFill>
            <a:srgbClr val="E8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1234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6A2D"/>
                </a:solidFill>
              </a:rPr>
              <a:t>17 058 $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185623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MAE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167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677"/>
                </a:solidFill>
              </a:rPr>
              <a:t>écart absolu moyen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06056" y="1143000"/>
            <a:ext cx="2194560" cy="14630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06056" y="1143000"/>
            <a:ext cx="2194560" cy="50292"/>
          </a:xfrm>
          <a:prstGeom prst="rect">
            <a:avLst/>
          </a:prstGeom>
          <a:solidFill>
            <a:srgbClr val="0D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06056" y="1234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7A7A"/>
                </a:solidFill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185623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6056" y="2167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677"/>
                </a:solidFill>
              </a:rPr>
              <a:t>unitaires + intégr.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6920" y="1143000"/>
            <a:ext cx="2231136" cy="146304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143000"/>
            <a:ext cx="2231136" cy="50292"/>
          </a:xfrm>
          <a:prstGeom prst="rect">
            <a:avLst/>
          </a:prstGeom>
          <a:solidFill>
            <a:srgbClr val="6A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1234440"/>
            <a:ext cx="22311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6A2FBE"/>
                </a:solidFill>
              </a:rPr>
              <a:t>528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1856232"/>
            <a:ext cx="2231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Runs MLFlow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167128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677"/>
                </a:solidFill>
              </a:rPr>
              <a:t>4 expériences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28346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E"/>
                </a:solidFill>
              </a:rPr>
              <a:t>Ce que nous avons accompli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3291840"/>
            <a:ext cx="256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" y="3291840"/>
            <a:ext cx="52486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EDA rigoureuse → découverte log-transform (+54 000 $ sur SVR)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3712464"/>
            <a:ext cx="256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" y="3712464"/>
            <a:ext cx="52486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Benchmark exhaustif : 20+ modèles, 54 runs MLFlow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4133088"/>
            <a:ext cx="256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" y="4133088"/>
            <a:ext cx="52486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Optimisation Optuna : 60 trials, pruning bayésien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4553712"/>
            <a:ext cx="256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" y="4553712"/>
            <a:ext cx="52486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6 axes de preprocessing (+1 237 $ de gain total)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4974336"/>
            <a:ext cx="256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" y="4974336"/>
            <a:ext cx="52486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API REST déployée sur Railway (URL publique)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5394960"/>
            <a:ext cx="256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" y="5394960"/>
            <a:ext cx="52486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Monitoring de drift avec Evidently + KS-test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5815584"/>
            <a:ext cx="256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" y="5815584"/>
            <a:ext cx="52486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20 tests automatisés + CI/CD 4 jobs GitHub Actions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28346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E"/>
                </a:solidFill>
              </a:rPr>
              <a:t>Perspectives d'amélioration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3291840"/>
            <a:ext cx="256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1344" y="3291840"/>
            <a:ext cx="57058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SHAP values : explicabilité des prédictions par maison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3712464"/>
            <a:ext cx="256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81344" y="3712464"/>
            <a:ext cx="57058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Réentraînement automatique si drift détecté (Airflow/Prefect)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4133088"/>
            <a:ext cx="256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81344" y="4133088"/>
            <a:ext cx="57058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Test A/B entre modèle Ridge et LightGBM en production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4553712"/>
            <a:ext cx="256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81344" y="4553712"/>
            <a:ext cx="57058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Interface web Streamlit pour les agents immobiliers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4974336"/>
            <a:ext cx="256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D"/>
                </a:solidFill>
              </a:rPr>
              <a:t>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81344" y="4974336"/>
            <a:ext cx="57058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Étendre à d'autres marchés immobiliers (Paris, NY…)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6217920"/>
            <a:ext cx="11521440" cy="56692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630936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Lykarim  &amp;  AlimatouSadiyah  ·  Promotion DIC3  ·  2026  ·  GitHub : Lykarim/house-price-ames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